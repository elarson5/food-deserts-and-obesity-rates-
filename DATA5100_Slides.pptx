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70" r:id="rId6"/>
    <p:sldId id="261" r:id="rId7"/>
    <p:sldId id="272" r:id="rId8"/>
    <p:sldId id="262" r:id="rId9"/>
    <p:sldId id="271" r:id="rId10"/>
    <p:sldId id="273" r:id="rId11"/>
    <p:sldId id="263" r:id="rId12"/>
    <p:sldId id="268" r:id="rId13"/>
    <p:sldId id="274" r:id="rId14"/>
    <p:sldId id="277" r:id="rId15"/>
    <p:sldId id="282" r:id="rId16"/>
    <p:sldId id="276" r:id="rId17"/>
    <p:sldId id="275" r:id="rId18"/>
    <p:sldId id="278" r:id="rId19"/>
    <p:sldId id="279" r:id="rId20"/>
    <p:sldId id="280" r:id="rId21"/>
    <p:sldId id="281" r:id="rId22"/>
    <p:sldId id="269" r:id="rId23"/>
  </p:sldIdLst>
  <p:sldSz cx="18288000" cy="10287000"/>
  <p:notesSz cx="6858000" cy="9144000"/>
  <p:embeddedFontLs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Oswald Medium" panose="00000600000000000000" pitchFamily="2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1" autoAdjust="0"/>
    <p:restoredTop sz="94576" autoAdjust="0"/>
  </p:normalViewPr>
  <p:slideViewPr>
    <p:cSldViewPr>
      <p:cViewPr varScale="1">
        <p:scale>
          <a:sx n="66" d="100"/>
          <a:sy n="66" d="100"/>
        </p:scale>
        <p:origin x="32" y="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Larson" userId="28767b1da64fea93" providerId="LiveId" clId="{2DCC8A1B-1A5D-457E-A250-6A76219CE250}"/>
    <pc:docChg chg="modSld">
      <pc:chgData name="Emily Larson" userId="28767b1da64fea93" providerId="LiveId" clId="{2DCC8A1B-1A5D-457E-A250-6A76219CE250}" dt="2025-12-03T03:36:48.043" v="0" actId="20577"/>
      <pc:docMkLst>
        <pc:docMk/>
      </pc:docMkLst>
      <pc:sldChg chg="modSp mod">
        <pc:chgData name="Emily Larson" userId="28767b1da64fea93" providerId="LiveId" clId="{2DCC8A1B-1A5D-457E-A250-6A76219CE250}" dt="2025-12-03T03:36:48.043" v="0" actId="20577"/>
        <pc:sldMkLst>
          <pc:docMk/>
          <pc:sldMk cId="1458921632" sldId="263"/>
        </pc:sldMkLst>
        <pc:spChg chg="mod">
          <ac:chgData name="Emily Larson" userId="28767b1da64fea93" providerId="LiveId" clId="{2DCC8A1B-1A5D-457E-A250-6A76219CE250}" dt="2025-12-03T03:36:48.043" v="0" actId="20577"/>
          <ac:spMkLst>
            <pc:docMk/>
            <pc:sldMk cId="1458921632" sldId="263"/>
            <ac:spMk id="10" creationId="{239AFB46-2814-CD08-D438-04029DBA2DE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068944" y="2224872"/>
            <a:ext cx="12150107" cy="3365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Oswald Medium"/>
              </a:rPr>
              <a:t>Food Deserts, Socioeconomic Factors, and Obesity Rates Across U.S. Counties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9390" y="5590858"/>
            <a:ext cx="4709220" cy="127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EJ Bergevin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Emily Larson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Jack Neton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32073" y="676066"/>
            <a:ext cx="2506349" cy="411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Oswald Medium"/>
              </a:rPr>
              <a:t>DATA 5100 | 25FQ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07112-90D3-5089-91A9-4FE2859A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E577D8-4E0F-4564-6B1C-D6E2926632CF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A0E1B8F-E052-08A0-90BF-ABF2A0D18995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D8DE2C-7729-BED2-670A-90AB135735ED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3369C40-F3AF-CD0D-A47B-4EF2A7EE223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CD5E3C1-4D78-A5E3-BE83-7A6F1F1C35D3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07A1285-10CA-854C-5E83-7D7D235C535B}"/>
              </a:ext>
            </a:extLst>
          </p:cNvPr>
          <p:cNvSpPr txBox="1"/>
          <p:nvPr/>
        </p:nvSpPr>
        <p:spPr>
          <a:xfrm>
            <a:off x="2285998" y="2459259"/>
            <a:ext cx="13716000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122237" algn="ctr"/>
            <a:r>
              <a:rPr lang="en-US" sz="7200" dirty="0"/>
              <a:t>How do socioeconomic factors and elements of food deserts relate to obesity rates?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33BBCD5-B39F-8F02-B806-FF1D38B48B34}"/>
              </a:ext>
            </a:extLst>
          </p:cNvPr>
          <p:cNvSpPr txBox="1"/>
          <p:nvPr/>
        </p:nvSpPr>
        <p:spPr>
          <a:xfrm>
            <a:off x="1242433" y="657439"/>
            <a:ext cx="388562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4227461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649DC-70F3-67F5-4CA8-8348703B5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7727E8-259B-ACBE-B78D-BBFF31DBCB65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B016CE3-5FB8-EB06-53A1-AA4DF899BB92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3A3822F-7D10-7DE4-8C6B-0D1AFF851FD5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DC9CE42-FDEA-45A8-E437-1041B6354789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49CC3DD-2F38-56B1-9AEC-C2D26C9CDE40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C6D56FA-452B-DBFE-F155-81BDF1324E3D}"/>
              </a:ext>
            </a:extLst>
          </p:cNvPr>
          <p:cNvSpPr txBox="1"/>
          <p:nvPr/>
        </p:nvSpPr>
        <p:spPr>
          <a:xfrm>
            <a:off x="1752600" y="3193756"/>
            <a:ext cx="138684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Food deserts affect millions of Americans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Especially in rural and low-income communities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Understanding which factors matter helps guide policy and resource allocation.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D7C654-FA5C-6011-20D9-B7D8D5698424}"/>
              </a:ext>
            </a:extLst>
          </p:cNvPr>
          <p:cNvSpPr txBox="1"/>
          <p:nvPr/>
        </p:nvSpPr>
        <p:spPr>
          <a:xfrm>
            <a:off x="1932073" y="657439"/>
            <a:ext cx="25063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Importance</a:t>
            </a:r>
          </a:p>
        </p:txBody>
      </p:sp>
    </p:spTree>
    <p:extLst>
      <p:ext uri="{BB962C8B-B14F-4D97-AF65-F5344CB8AC3E}">
        <p14:creationId xmlns:p14="http://schemas.microsoft.com/office/powerpoint/2010/main" val="69023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A761F-CE62-5554-9F34-0FD72F81E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9403BF-6C25-C8C6-B322-7F94866FC7A2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E676C2D-3226-4D48-1742-FE15F157669A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4CCBCFD-8AEA-4902-794C-E0329873CDDC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D8BBB3D-D830-253B-6AA2-1662D923FD9D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F8DD1DF-6475-4E01-7925-652D6AA85481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ADF46A3-C2E7-1801-0186-8861D27A7771}"/>
              </a:ext>
            </a:extLst>
          </p:cNvPr>
          <p:cNvSpPr txBox="1"/>
          <p:nvPr/>
        </p:nvSpPr>
        <p:spPr>
          <a:xfrm>
            <a:off x="5817702" y="2927508"/>
            <a:ext cx="7315200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600" b="1" dirty="0"/>
              <a:t>USDA Food Environment Atlas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Food access indicators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Food insecurity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Store types per capita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Socioeconomic indicators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Obesity Rates (dependent variable)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algn="just"/>
            <a:r>
              <a:rPr lang="en-US" sz="3600" i="1" dirty="0"/>
              <a:t>~3000 counties after cleaning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E378330-784E-60FA-50A1-A50F22ED448C}"/>
              </a:ext>
            </a:extLst>
          </p:cNvPr>
          <p:cNvSpPr txBox="1"/>
          <p:nvPr/>
        </p:nvSpPr>
        <p:spPr>
          <a:xfrm>
            <a:off x="1508848" y="657439"/>
            <a:ext cx="335280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1067329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836A-FA0B-7F35-6085-88BA71D46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5AF1CF-2012-D951-43B1-8236B4BD0264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1B5D63-EEAA-7E00-FCD0-6C71A959DA21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CCB65D-C8E3-1AE5-F922-8DAA7525F086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93819B0-8FEF-DED5-36B1-C5D3802BFA43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0C97F3-38AD-BB06-2C91-A92B004F8BB9}"/>
              </a:ext>
            </a:extLst>
          </p:cNvPr>
          <p:cNvSpPr/>
          <p:nvPr/>
        </p:nvSpPr>
        <p:spPr>
          <a:xfrm>
            <a:off x="-5751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4AD0FB9-C6DF-2778-987F-3B1D14EF543A}"/>
              </a:ext>
            </a:extLst>
          </p:cNvPr>
          <p:cNvSpPr txBox="1"/>
          <p:nvPr/>
        </p:nvSpPr>
        <p:spPr>
          <a:xfrm>
            <a:off x="1579297" y="661959"/>
            <a:ext cx="320040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Key Predictors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10FC1-D612-187F-1EB4-27B859588B95}"/>
              </a:ext>
            </a:extLst>
          </p:cNvPr>
          <p:cNvSpPr txBox="1"/>
          <p:nvPr/>
        </p:nvSpPr>
        <p:spPr>
          <a:xfrm>
            <a:off x="8763000" y="2661608"/>
            <a:ext cx="9220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9E4BB3-B1AF-A905-B47B-7092A30604F9}"/>
              </a:ext>
            </a:extLst>
          </p:cNvPr>
          <p:cNvSpPr txBox="1"/>
          <p:nvPr/>
        </p:nvSpPr>
        <p:spPr>
          <a:xfrm>
            <a:off x="533400" y="2425679"/>
            <a:ext cx="5638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/>
              <a:t>Food Desert Components: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Food insecurity rate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Low-income/low-access percentage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Store Type (grocery, supercenter, convenience, specialized)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No vehicle access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8F59BD-1AA6-816A-BA96-7A5DEE493B88}"/>
              </a:ext>
            </a:extLst>
          </p:cNvPr>
          <p:cNvSpPr txBox="1"/>
          <p:nvPr/>
        </p:nvSpPr>
        <p:spPr>
          <a:xfrm>
            <a:off x="6477002" y="2425679"/>
            <a:ext cx="5638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/>
              <a:t>Socioeconomic Factors: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Median Income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Poverty Rate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Age (65+, for ex). 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75A76D-6B59-3BC8-7227-A3E1E5198A35}"/>
              </a:ext>
            </a:extLst>
          </p:cNvPr>
          <p:cNvSpPr txBox="1"/>
          <p:nvPr/>
        </p:nvSpPr>
        <p:spPr>
          <a:xfrm>
            <a:off x="12227473" y="2434876"/>
            <a:ext cx="5638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/>
              <a:t>Outcome: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Obesity Rate (%)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4550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10F7-DFD4-5E95-F420-4927F679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DAA542-16FA-A6BB-F540-102EB28AFCDA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5C06DA6-C0CF-DABA-55CC-AF00FCCC1350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D1CD8A7-4F51-B4F0-D9D4-7E7075C9A1F8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70D0D9D-D155-CA3D-2CCE-DCDB90F8621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4D3DF23-C48C-A253-EA59-33C6FF3A59CF}"/>
              </a:ext>
            </a:extLst>
          </p:cNvPr>
          <p:cNvSpPr/>
          <p:nvPr/>
        </p:nvSpPr>
        <p:spPr>
          <a:xfrm>
            <a:off x="-5751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300FD4A-2353-A2BE-0F0C-908811513DE8}"/>
              </a:ext>
            </a:extLst>
          </p:cNvPr>
          <p:cNvSpPr txBox="1"/>
          <p:nvPr/>
        </p:nvSpPr>
        <p:spPr>
          <a:xfrm>
            <a:off x="1513758" y="437539"/>
            <a:ext cx="3331478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Data Cleaning &amp; Transformations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C0EA75-1A08-A2F7-3AFE-01B36394D05B}"/>
              </a:ext>
            </a:extLst>
          </p:cNvPr>
          <p:cNvSpPr txBox="1"/>
          <p:nvPr/>
        </p:nvSpPr>
        <p:spPr>
          <a:xfrm>
            <a:off x="8763000" y="2661608"/>
            <a:ext cx="9220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51811B-7859-CB5B-E415-D6ADBE127E48}"/>
              </a:ext>
            </a:extLst>
          </p:cNvPr>
          <p:cNvSpPr txBox="1"/>
          <p:nvPr/>
        </p:nvSpPr>
        <p:spPr>
          <a:xfrm>
            <a:off x="4648200" y="2874133"/>
            <a:ext cx="118109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Removed outlier values (-9999/-8888/</a:t>
            </a:r>
            <a:r>
              <a:rPr lang="en-US" sz="3600" dirty="0" err="1"/>
              <a:t>NaN</a:t>
            </a:r>
            <a:r>
              <a:rPr lang="en-US" sz="3600" dirty="0"/>
              <a:t>)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Mean imputation at state level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Log-transformed skewed store variables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Standardized all continuous predictors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Checked distributions and correlations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12441358-4DD7-F4B9-8AEA-E7A8EB0D1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7283" y="5992986"/>
            <a:ext cx="23121796" cy="1410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42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9C9AF-E420-EBBD-C42A-0B96B5FF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A359720-2F6E-45D3-370B-DB0BFD7DF1DF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2FC1A15-FFB4-61C6-1FD3-C33061B94ED2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A4BE9A7-6BA4-84D1-629F-D11BC9173194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7101A1C-2C4B-233B-C2DC-1F4DF24F5C73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47899F2-B304-2163-8F5E-CD6BC857B068}"/>
              </a:ext>
            </a:extLst>
          </p:cNvPr>
          <p:cNvSpPr/>
          <p:nvPr/>
        </p:nvSpPr>
        <p:spPr>
          <a:xfrm>
            <a:off x="-5751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511A3DC-ED3C-FB8D-0E90-52DF44BF645F}"/>
              </a:ext>
            </a:extLst>
          </p:cNvPr>
          <p:cNvSpPr txBox="1"/>
          <p:nvPr/>
        </p:nvSpPr>
        <p:spPr>
          <a:xfrm>
            <a:off x="1742358" y="437539"/>
            <a:ext cx="2874278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EDA: Correlations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D1B90-44E1-971A-A4A9-935F7086C233}"/>
              </a:ext>
            </a:extLst>
          </p:cNvPr>
          <p:cNvSpPr txBox="1"/>
          <p:nvPr/>
        </p:nvSpPr>
        <p:spPr>
          <a:xfrm>
            <a:off x="8763000" y="2661608"/>
            <a:ext cx="9220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70927CAA-4ABC-6394-FE03-553017704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7283" y="5992986"/>
            <a:ext cx="23121796" cy="1410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870149A8-219D-67C2-A739-BC5F9434D6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5"/>
          <a:stretch>
            <a:fillRect/>
          </a:stretch>
        </p:blipFill>
        <p:spPr>
          <a:xfrm>
            <a:off x="2971800" y="1890328"/>
            <a:ext cx="10996131" cy="704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10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49289-C3FD-8892-1747-32608861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0BCDF1-1638-A6C6-B6E4-09638B365B9C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097809-9CA6-16C8-83ED-12DF38B08840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5E4E586-7106-3289-06DE-591DD3CC73CC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BACFB44-C13F-0E61-0791-7A9FA0003B6D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579F774-F504-9B0C-39CC-712F43DBF689}"/>
              </a:ext>
            </a:extLst>
          </p:cNvPr>
          <p:cNvSpPr/>
          <p:nvPr/>
        </p:nvSpPr>
        <p:spPr>
          <a:xfrm>
            <a:off x="-1438" y="-10783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9AE72C6-7637-ACC1-82A4-2C84D084FF10}"/>
              </a:ext>
            </a:extLst>
          </p:cNvPr>
          <p:cNvSpPr txBox="1"/>
          <p:nvPr/>
        </p:nvSpPr>
        <p:spPr>
          <a:xfrm>
            <a:off x="1930635" y="197816"/>
            <a:ext cx="2506349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Initial Model:</a:t>
            </a:r>
          </a:p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Stepwise Regression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AFB46-2814-CD08-D438-04029DBA2DE6}"/>
              </a:ext>
            </a:extLst>
          </p:cNvPr>
          <p:cNvSpPr txBox="1"/>
          <p:nvPr/>
        </p:nvSpPr>
        <p:spPr>
          <a:xfrm>
            <a:off x="10134600" y="2835176"/>
            <a:ext cx="845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Variable selection unstable due </a:t>
            </a:r>
            <a:r>
              <a:rPr lang="en-US" sz="3600"/>
              <a:t>to multicollinearity</a:t>
            </a:r>
            <a:endParaRPr lang="en-US" sz="36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Highlighted need for regularization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Served as baseline model 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E4A406E-DBED-B556-855F-13033C9A7D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81147"/>
            <a:ext cx="9274349" cy="487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21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11B95-E2EF-A622-EA6B-7482352B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25EE21-008F-7366-618A-D21B8C574E19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99523A-AC6A-9D48-59C8-FC82E0FB7005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A787ADB-4657-B4FE-728A-84FEED1261DB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BF1FC34-B0A1-554A-ED5C-C84623244F4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75CBD91-11EF-E671-AA6B-339E53AC1F56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3ABFA74-AB70-4311-9B06-30BAA85151F4}"/>
              </a:ext>
            </a:extLst>
          </p:cNvPr>
          <p:cNvSpPr txBox="1"/>
          <p:nvPr/>
        </p:nvSpPr>
        <p:spPr>
          <a:xfrm>
            <a:off x="1932073" y="437539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Model Refinement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F6D11-9CAB-327B-9DB8-6E88BF4381AB}"/>
              </a:ext>
            </a:extLst>
          </p:cNvPr>
          <p:cNvSpPr txBox="1"/>
          <p:nvPr/>
        </p:nvSpPr>
        <p:spPr>
          <a:xfrm>
            <a:off x="1600200" y="1768240"/>
            <a:ext cx="1287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326D8-6F04-6D2B-6153-E903C7037B76}"/>
              </a:ext>
            </a:extLst>
          </p:cNvPr>
          <p:cNvSpPr txBox="1"/>
          <p:nvPr/>
        </p:nvSpPr>
        <p:spPr>
          <a:xfrm>
            <a:off x="3728680" y="3288350"/>
            <a:ext cx="108306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Why use Elastic Net?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Predictors shown to be highly correlated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Elastic Net stabilizes estimates in this environment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Assists with feature importance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037133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4F95A-C801-E05D-56B0-6C33A4F0F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37803C2-EF9F-6D0D-563E-1E71108C8354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243D00C-59BC-27FC-1775-93D61777499B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78C4FC5-F991-2B30-2F7A-938402FE5046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AEC21B4-77A9-6576-DAAE-0E3893EA02F4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C9273E7-113A-A713-5EE0-AE84DB130B29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B8DDB6C-43AB-3573-1EE2-07F496FD8785}"/>
              </a:ext>
            </a:extLst>
          </p:cNvPr>
          <p:cNvSpPr txBox="1"/>
          <p:nvPr/>
        </p:nvSpPr>
        <p:spPr>
          <a:xfrm>
            <a:off x="1932073" y="437539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Model Refinement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9A0D49-0605-BDE2-72FA-A70604A5F3BA}"/>
              </a:ext>
            </a:extLst>
          </p:cNvPr>
          <p:cNvSpPr txBox="1"/>
          <p:nvPr/>
        </p:nvSpPr>
        <p:spPr>
          <a:xfrm>
            <a:off x="1600200" y="1768240"/>
            <a:ext cx="1287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CACBD-A965-B1CD-60AE-1A2C80224471}"/>
              </a:ext>
            </a:extLst>
          </p:cNvPr>
          <p:cNvSpPr txBox="1"/>
          <p:nvPr/>
        </p:nvSpPr>
        <p:spPr>
          <a:xfrm>
            <a:off x="9143999" y="2089912"/>
            <a:ext cx="84425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Elastic Net Feature Coefficients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Food insecurity rate (1.232) strongest positive predictor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Supercenters (0.682) and convenience stores (0.505)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Grocery stores (-0.409) and specialized food stores (-0.206) reduce obesity</a:t>
            </a:r>
          </a:p>
        </p:txBody>
      </p:sp>
      <p:pic>
        <p:nvPicPr>
          <p:cNvPr id="12" name="Picture 11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572D134B-832C-074B-8BD5-B51D3DE5AD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21" y="2312450"/>
            <a:ext cx="8595202" cy="513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01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4BCB-A590-DF20-F844-455810D5F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E686B1-F37F-A9B7-C493-35F3BA63291E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FC72B6A-F8FF-4300-8302-F7A1343FE08C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9DF65C9-70E7-1D83-EE10-3BB9A9309BF0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D831317-5869-9593-2036-32DA97F1D8F9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1EFD23E-433D-4AA4-6FFF-35BE4CE67679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B2FE39E-8DE2-B7F4-DFD5-90FC7AD8F9B0}"/>
              </a:ext>
            </a:extLst>
          </p:cNvPr>
          <p:cNvSpPr txBox="1"/>
          <p:nvPr/>
        </p:nvSpPr>
        <p:spPr>
          <a:xfrm>
            <a:off x="1636684" y="430970"/>
            <a:ext cx="3097127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 err="1">
                <a:solidFill>
                  <a:srgbClr val="FFFFFF"/>
                </a:solidFill>
                <a:latin typeface="Oswald Medium"/>
              </a:rPr>
              <a:t>Mutlicollinearity</a:t>
            </a:r>
            <a:r>
              <a:rPr lang="en-US" sz="3600" dirty="0">
                <a:solidFill>
                  <a:srgbClr val="FFFFFF"/>
                </a:solidFill>
                <a:latin typeface="Oswald Medium"/>
              </a:rPr>
              <a:t> Check (VIF)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23153F-E0BE-1B3F-38D4-8AF8D8AEA9F2}"/>
              </a:ext>
            </a:extLst>
          </p:cNvPr>
          <p:cNvSpPr txBox="1"/>
          <p:nvPr/>
        </p:nvSpPr>
        <p:spPr>
          <a:xfrm>
            <a:off x="1600200" y="1768240"/>
            <a:ext cx="1287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0C36B4-D6C2-02BF-D601-405ED7648FF5}"/>
              </a:ext>
            </a:extLst>
          </p:cNvPr>
          <p:cNvSpPr txBox="1"/>
          <p:nvPr/>
        </p:nvSpPr>
        <p:spPr>
          <a:xfrm>
            <a:off x="8610600" y="3989338"/>
            <a:ext cx="8915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Socioeconomic indicators showed high VIF.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Confirms overlapping information across predictors.</a:t>
            </a:r>
          </a:p>
        </p:txBody>
      </p:sp>
      <p:pic>
        <p:nvPicPr>
          <p:cNvPr id="12" name="Picture 1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F33F2D5-210A-0014-0F74-6D70B910C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3254861"/>
            <a:ext cx="6024614" cy="40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19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80C34-6A64-4F8D-2080-2DBE3847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BAA687-AC74-6230-A22A-EBA2441C804A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9A54EE4-53F7-0765-BFB0-BD85CDCC01D1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79DAA34-7B5F-4B02-7A63-BF4BBC4C2B9A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25C187D-E625-DC50-2C97-92AA4C90A23A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B16C701-813E-4E94-5A10-BB97A8C1625E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3E94FCE-2915-F360-5EF7-2EB0135D1804}"/>
              </a:ext>
            </a:extLst>
          </p:cNvPr>
          <p:cNvSpPr txBox="1"/>
          <p:nvPr/>
        </p:nvSpPr>
        <p:spPr>
          <a:xfrm>
            <a:off x="1636684" y="430970"/>
            <a:ext cx="3097127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Final Elastic Net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EAAA5-EF9D-9B2B-4FDE-1038FAB1711A}"/>
              </a:ext>
            </a:extLst>
          </p:cNvPr>
          <p:cNvSpPr txBox="1"/>
          <p:nvPr/>
        </p:nvSpPr>
        <p:spPr>
          <a:xfrm>
            <a:off x="1600200" y="1768240"/>
            <a:ext cx="1287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 descr="A graph with blue squares&#10;&#10;AI-generated content may be incorrect.">
            <a:extLst>
              <a:ext uri="{FF2B5EF4-FFF2-40B4-BE49-F238E27FC236}">
                <a16:creationId xmlns:a16="http://schemas.microsoft.com/office/drawing/2014/main" id="{90076EF4-A30E-D3E9-69B6-52F682EE8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428592"/>
            <a:ext cx="8973693" cy="53035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70F107-1244-E5FA-ABC8-E070B55EFCC9}"/>
              </a:ext>
            </a:extLst>
          </p:cNvPr>
          <p:cNvSpPr txBox="1"/>
          <p:nvPr/>
        </p:nvSpPr>
        <p:spPr>
          <a:xfrm>
            <a:off x="9906000" y="2781300"/>
            <a:ext cx="84425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Final Elastic Net Feature Coefficients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Food insecurity rate (1.232) remained strongest positive predictor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Supercenters (0.682) and convenience stores (0.505)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Grocery stores (-0.409) and specialized food stores (-0.206) reduce obesity</a:t>
            </a:r>
          </a:p>
        </p:txBody>
      </p:sp>
    </p:spTree>
    <p:extLst>
      <p:ext uri="{BB962C8B-B14F-4D97-AF65-F5344CB8AC3E}">
        <p14:creationId xmlns:p14="http://schemas.microsoft.com/office/powerpoint/2010/main" val="885992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D1798-60D8-DC2A-C9F4-0BEAE0FD4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44E5B09-73DD-C197-C8FA-17698C86316E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6DC79CC-AB9C-7E5F-E5AF-3840CCDC4BAD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88596F9-51CF-93DF-CDFE-973DD37A1DDE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6927EC6-B507-326B-9A45-C009D816870E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B953D13-10C4-7068-6F26-FF8FF9252C13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5219C8-6C3F-4211-CBA2-F403FF955AB8}"/>
              </a:ext>
            </a:extLst>
          </p:cNvPr>
          <p:cNvSpPr txBox="1"/>
          <p:nvPr/>
        </p:nvSpPr>
        <p:spPr>
          <a:xfrm>
            <a:off x="1932073" y="437539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Residual Diagnostics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89C6DF-8661-AF94-6208-DE76E3897D98}"/>
              </a:ext>
            </a:extLst>
          </p:cNvPr>
          <p:cNvSpPr txBox="1"/>
          <p:nvPr/>
        </p:nvSpPr>
        <p:spPr>
          <a:xfrm>
            <a:off x="1600200" y="1768240"/>
            <a:ext cx="1287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24A10-2F86-73F6-E193-6B2C2FD460D1}"/>
              </a:ext>
            </a:extLst>
          </p:cNvPr>
          <p:cNvSpPr txBox="1"/>
          <p:nvPr/>
        </p:nvSpPr>
        <p:spPr>
          <a:xfrm>
            <a:off x="9982200" y="2781300"/>
            <a:ext cx="65762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Final Elastic Net Model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Residuals centered around zero.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Train/test distributions overlap; no major overfitting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Mild, but acceptable, heteroscedasticity.</a:t>
            </a:r>
          </a:p>
        </p:txBody>
      </p:sp>
      <p:pic>
        <p:nvPicPr>
          <p:cNvPr id="11" name="Picture 10" descr="A diagram of a graph&#10;&#10;AI-generated content may be incorrect.">
            <a:extLst>
              <a:ext uri="{FF2B5EF4-FFF2-40B4-BE49-F238E27FC236}">
                <a16:creationId xmlns:a16="http://schemas.microsoft.com/office/drawing/2014/main" id="{6CC60083-6D22-CFF9-30B4-1CE14E82D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5"/>
          <a:stretch>
            <a:fillRect/>
          </a:stretch>
        </p:blipFill>
        <p:spPr>
          <a:xfrm>
            <a:off x="1407401" y="1885544"/>
            <a:ext cx="5532522" cy="3676458"/>
          </a:xfrm>
          <a:prstGeom prst="rect">
            <a:avLst/>
          </a:prstGeom>
        </p:spPr>
      </p:pic>
      <p:pic>
        <p:nvPicPr>
          <p:cNvPr id="13" name="Picture 12" descr="A graph of a distribution of residuals&#10;&#10;AI-generated content may be incorrect.">
            <a:extLst>
              <a:ext uri="{FF2B5EF4-FFF2-40B4-BE49-F238E27FC236}">
                <a16:creationId xmlns:a16="http://schemas.microsoft.com/office/drawing/2014/main" id="{B925F581-4A74-2E5C-A21B-B267F22154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96" y="5500488"/>
            <a:ext cx="5532526" cy="369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36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AA24-093F-6913-8CC5-C2AF07893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DFCC220-E011-25C4-FC29-D69D244E930B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E1799BE-0124-7E7C-4B8F-6C38F1C3085B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A95920E-3CE9-F3B8-3E1F-BA8D61D0B757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5FDFAF38-AF93-BE64-F644-6D996231B17F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D39A803-B37B-1FD5-ED72-23E32AC72E17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B89697D-4FC2-A1A1-30EB-4F0568A0A26C}"/>
              </a:ext>
            </a:extLst>
          </p:cNvPr>
          <p:cNvSpPr txBox="1"/>
          <p:nvPr/>
        </p:nvSpPr>
        <p:spPr>
          <a:xfrm>
            <a:off x="1932073" y="437539"/>
            <a:ext cx="25063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Interpretation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83D2FE-DCDB-8ED4-87DB-57A344981A41}"/>
              </a:ext>
            </a:extLst>
          </p:cNvPr>
          <p:cNvSpPr txBox="1"/>
          <p:nvPr/>
        </p:nvSpPr>
        <p:spPr>
          <a:xfrm>
            <a:off x="1600200" y="1768240"/>
            <a:ext cx="1287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03E883-5E0F-4C74-7A12-FC202E7246A8}"/>
              </a:ext>
            </a:extLst>
          </p:cNvPr>
          <p:cNvSpPr txBox="1"/>
          <p:nvPr/>
        </p:nvSpPr>
        <p:spPr>
          <a:xfrm>
            <a:off x="3529461" y="3019432"/>
            <a:ext cx="109170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Convenience stores have more highly processed foods, therefore, leading to higher obesity rate.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Grocery stores &amp; specialized food stores have healthier options, leading to lower obesity risk.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Food insecurity is the strongest direct food-desert signal.</a:t>
            </a:r>
          </a:p>
        </p:txBody>
      </p:sp>
    </p:spTree>
    <p:extLst>
      <p:ext uri="{BB962C8B-B14F-4D97-AF65-F5344CB8AC3E}">
        <p14:creationId xmlns:p14="http://schemas.microsoft.com/office/powerpoint/2010/main" val="342536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1FC6D-DC72-ACFB-9667-07057B8E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DA1B6B5-C769-E26E-CA1D-CEBE6140A7B1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8CCD12-E2B2-CCDB-BB57-5FAE59A174BD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A97EC1D-85DC-AEB2-0CB2-505399E2F07C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347E362-B10B-A88E-CCC9-77A960C4899F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B1B8555-936C-6854-7B01-90596D233A49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D2648F8-6CB8-075F-10EA-0C27FBAD8AEF}"/>
              </a:ext>
            </a:extLst>
          </p:cNvPr>
          <p:cNvSpPr txBox="1"/>
          <p:nvPr/>
        </p:nvSpPr>
        <p:spPr>
          <a:xfrm>
            <a:off x="1636684" y="430970"/>
            <a:ext cx="309712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PCA: Why?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4C1C0B-916B-C027-31CF-B884C4A6751B}"/>
              </a:ext>
            </a:extLst>
          </p:cNvPr>
          <p:cNvSpPr txBox="1"/>
          <p:nvPr/>
        </p:nvSpPr>
        <p:spPr>
          <a:xfrm>
            <a:off x="1600200" y="1768240"/>
            <a:ext cx="1287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1C350-6094-7E53-B562-235BB5190CD7}"/>
              </a:ext>
            </a:extLst>
          </p:cNvPr>
          <p:cNvSpPr txBox="1"/>
          <p:nvPr/>
        </p:nvSpPr>
        <p:spPr>
          <a:xfrm>
            <a:off x="4267200" y="3551667"/>
            <a:ext cx="9296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Why try PCA?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Compress correlated predictors into independent components.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Check whether capturing shared variance improves predictions.</a:t>
            </a:r>
          </a:p>
        </p:txBody>
      </p:sp>
    </p:spTree>
    <p:extLst>
      <p:ext uri="{BB962C8B-B14F-4D97-AF65-F5344CB8AC3E}">
        <p14:creationId xmlns:p14="http://schemas.microsoft.com/office/powerpoint/2010/main" val="2986944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EACE1-71EA-B885-8BBB-F45CF6F11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2CDA91F-4800-1706-71A3-7E182A62A1EA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68C1F6E-D514-7603-4ABF-5DB33BA91DB3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99662D4-2BF2-5126-E79D-EDDA335F52C2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B6FDB25-F0B5-1AD2-0809-FFB86146B9CC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F1B0A9D-3DDF-42FA-D047-5C73E5DD1478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687152D-C8A6-4DD6-6534-6218954903C3}"/>
              </a:ext>
            </a:extLst>
          </p:cNvPr>
          <p:cNvSpPr txBox="1"/>
          <p:nvPr/>
        </p:nvSpPr>
        <p:spPr>
          <a:xfrm>
            <a:off x="1636684" y="430970"/>
            <a:ext cx="3097127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PCA: Components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D2849-8FAC-FAF4-F8CE-2DE3789377CC}"/>
              </a:ext>
            </a:extLst>
          </p:cNvPr>
          <p:cNvSpPr txBox="1"/>
          <p:nvPr/>
        </p:nvSpPr>
        <p:spPr>
          <a:xfrm>
            <a:off x="1600200" y="1768240"/>
            <a:ext cx="1287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E30A8-3945-6027-5066-B039B1018023}"/>
              </a:ext>
            </a:extLst>
          </p:cNvPr>
          <p:cNvSpPr txBox="1"/>
          <p:nvPr/>
        </p:nvSpPr>
        <p:spPr>
          <a:xfrm>
            <a:off x="8610600" y="2818619"/>
            <a:ext cx="929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PC1: </a:t>
            </a:r>
            <a:r>
              <a:rPr lang="en-US" sz="3600" dirty="0"/>
              <a:t>socioeconomic + access gradient (income, poverty, food insecurity)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PC2/3:</a:t>
            </a:r>
            <a:r>
              <a:rPr lang="en-US" sz="3600" dirty="0"/>
              <a:t> store-type differences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Performance</a:t>
            </a:r>
            <a:r>
              <a:rPr lang="en-US" sz="3600" dirty="0"/>
              <a:t>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Reduced multicollinearity but did not improve accuracy.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C3DBD6-E210-6FCA-615C-753F50A412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44737"/>
            <a:ext cx="6629400" cy="647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92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B819D-BE4E-9334-781A-005940B0D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A754F14-6C58-6DF7-45DD-58585F2079AF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4E43267-6EAD-CE73-5AAA-44DB262D180E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6D344E3-68B4-138D-196B-36AA592DE555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FDD8B8B-E8BE-25CE-F9EE-D51B832879AB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000339E-A68F-B1A6-B9D7-E447B08AD5AD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6AD33F5-9F15-F024-F9BA-565F289A4215}"/>
              </a:ext>
            </a:extLst>
          </p:cNvPr>
          <p:cNvSpPr txBox="1"/>
          <p:nvPr/>
        </p:nvSpPr>
        <p:spPr>
          <a:xfrm>
            <a:off x="1636684" y="430970"/>
            <a:ext cx="309712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Conclusions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EBCAD-22E4-483D-EDD3-5E82088EF400}"/>
              </a:ext>
            </a:extLst>
          </p:cNvPr>
          <p:cNvSpPr txBox="1"/>
          <p:nvPr/>
        </p:nvSpPr>
        <p:spPr>
          <a:xfrm>
            <a:off x="1600200" y="1768240"/>
            <a:ext cx="1287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F175A-3E8C-E964-C6DA-5740CDB15E5F}"/>
              </a:ext>
            </a:extLst>
          </p:cNvPr>
          <p:cNvSpPr txBox="1"/>
          <p:nvPr/>
        </p:nvSpPr>
        <p:spPr>
          <a:xfrm>
            <a:off x="2743200" y="2050345"/>
            <a:ext cx="1245090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Both food-desert components and socioeconomic factors meaningfully relate to obesity.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Food insecurity</a:t>
            </a:r>
            <a:r>
              <a:rPr lang="en-US" sz="3600" dirty="0"/>
              <a:t> has the largest positive effect on obesity.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Greater access to </a:t>
            </a:r>
            <a:r>
              <a:rPr lang="en-US" sz="3600" b="1" dirty="0"/>
              <a:t>grocery stores</a:t>
            </a:r>
            <a:r>
              <a:rPr lang="en-US" sz="3600" dirty="0"/>
              <a:t> and </a:t>
            </a:r>
            <a:r>
              <a:rPr lang="en-US" sz="3600" b="1" dirty="0"/>
              <a:t>specialized food stores</a:t>
            </a:r>
            <a:r>
              <a:rPr lang="en-US" sz="3600" dirty="0"/>
              <a:t> reduces obesity.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Median income</a:t>
            </a:r>
            <a:r>
              <a:rPr lang="en-US" sz="3600" dirty="0"/>
              <a:t> and </a:t>
            </a:r>
            <a:r>
              <a:rPr lang="en-US" sz="3600" b="1" dirty="0"/>
              <a:t>older population share</a:t>
            </a:r>
            <a:r>
              <a:rPr lang="en-US" sz="3600" dirty="0"/>
              <a:t> are protective socioeconomic factors.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Model explains a </a:t>
            </a:r>
            <a:r>
              <a:rPr lang="en-US" sz="3600" b="1" dirty="0"/>
              <a:t>moderate</a:t>
            </a:r>
            <a:r>
              <a:rPr lang="en-US" sz="3600" dirty="0"/>
              <a:t> share of obesity variation (R² ≈ 0.38-0.40).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Indicates obesity is multi-factorial environment + socioeconomic + behavioral factors.</a:t>
            </a:r>
          </a:p>
        </p:txBody>
      </p:sp>
    </p:spTree>
    <p:extLst>
      <p:ext uri="{BB962C8B-B14F-4D97-AF65-F5344CB8AC3E}">
        <p14:creationId xmlns:p14="http://schemas.microsoft.com/office/powerpoint/2010/main" val="2735108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C6255-8142-C677-5577-71D635E8D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2E499C-BBFB-4E33-DB58-F6831834F981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0E7FBC-CB91-0323-0A11-EE8539E33B97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3FD504D-39F3-DE86-BA99-FAF27BDA1BD7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D69E7F8-6632-182A-F5E0-6A8E4D9EF621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9E8EAC3-61D2-A65D-0A9F-D502881BC3E6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9D7A4EB-3CA2-A7CA-D2F9-B694699D2CDB}"/>
              </a:ext>
            </a:extLst>
          </p:cNvPr>
          <p:cNvSpPr txBox="1"/>
          <p:nvPr/>
        </p:nvSpPr>
        <p:spPr>
          <a:xfrm>
            <a:off x="1636684" y="430970"/>
            <a:ext cx="3097127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Limitations &amp;</a:t>
            </a:r>
          </a:p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Future 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9B0C7B-4987-B8FE-17F5-CA9EB1353810}"/>
              </a:ext>
            </a:extLst>
          </p:cNvPr>
          <p:cNvSpPr txBox="1"/>
          <p:nvPr/>
        </p:nvSpPr>
        <p:spPr>
          <a:xfrm>
            <a:off x="1600200" y="1768240"/>
            <a:ext cx="1287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8DCE28-4E13-6A27-F625-FD02D6EAA944}"/>
              </a:ext>
            </a:extLst>
          </p:cNvPr>
          <p:cNvSpPr txBox="1"/>
          <p:nvPr/>
        </p:nvSpPr>
        <p:spPr>
          <a:xfrm>
            <a:off x="1371600" y="3009900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Limitations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Food access does not equal food choices.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Observational data cannot infer causality.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D26A84-9780-758D-BA18-F49E22F5D464}"/>
              </a:ext>
            </a:extLst>
          </p:cNvPr>
          <p:cNvSpPr txBox="1"/>
          <p:nvPr/>
        </p:nvSpPr>
        <p:spPr>
          <a:xfrm>
            <a:off x="10668000" y="3009900"/>
            <a:ext cx="5867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Future Work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Add behavioral/environmental features to modeling.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Explore more causal framework.</a:t>
            </a:r>
          </a:p>
        </p:txBody>
      </p:sp>
    </p:spTree>
    <p:extLst>
      <p:ext uri="{BB962C8B-B14F-4D97-AF65-F5344CB8AC3E}">
        <p14:creationId xmlns:p14="http://schemas.microsoft.com/office/powerpoint/2010/main" val="2085425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82CF-34F6-C0A5-8A9A-04A1C2B0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3799397"/>
            <a:ext cx="7772400" cy="1362075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10693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C71AAF82D974DA0302843D413C0DC" ma:contentTypeVersion="17" ma:contentTypeDescription="Create a new document." ma:contentTypeScope="" ma:versionID="347cad82de7c514b6601bfa2a37a78a6">
  <xsd:schema xmlns:xsd="http://www.w3.org/2001/XMLSchema" xmlns:xs="http://www.w3.org/2001/XMLSchema" xmlns:p="http://schemas.microsoft.com/office/2006/metadata/properties" xmlns:ns2="90bfa618-64d6-4f98-860f-1bba87795c0a" xmlns:ns3="915351b3-9d83-48b3-ac22-e3c9aaa21acc" targetNamespace="http://schemas.microsoft.com/office/2006/metadata/properties" ma:root="true" ma:fieldsID="aac7e9cee1fa94fd2b28b4f9c7177d59" ns2:_="" ns3:_="">
    <xsd:import namespace="90bfa618-64d6-4f98-860f-1bba87795c0a"/>
    <xsd:import namespace="915351b3-9d83-48b3-ac22-e3c9aaa21a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Thumbnail" minOccurs="0"/>
                <xsd:element ref="ns2:MediaLengthInSeconds" minOccurs="0"/>
                <xsd:element ref="ns2:PLEASEDOWNLOADANDSAVEBEFOREUSE" minOccurs="0"/>
                <xsd:element ref="ns2:Dateand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bfa618-64d6-4f98-860f-1bba87795c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6cb9138-4e5c-4f96-9d77-c435c3151f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Thumbnail" ma:index="21" nillable="true" ma:displayName="Thumbnail" ma:format="Thumbnail" ma:internalName="Thumbnail">
      <xsd:simpleType>
        <xsd:restriction base="dms:Unknown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PLEASEDOWNLOADANDSAVEBEFOREUSE" ma:index="23" nillable="true" ma:displayName="DOWNLOAD FILE BEFORE USE" ma:format="Dropdown" ma:internalName="PLEASEDOWNLOADANDSAVEBEFOREUSE">
      <xsd:simpleType>
        <xsd:restriction base="dms:Text">
          <xsd:maxLength value="255"/>
        </xsd:restriction>
      </xsd:simpleType>
    </xsd:element>
    <xsd:element name="Dateandtime" ma:index="24" nillable="true" ma:displayName="Date and time" ma:format="DateTime" ma:internalName="Dateandtim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351b3-9d83-48b3-ac22-e3c9aaa21a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87a5966-f4e5-4a9a-aa9a-843f697f4b1e}" ma:internalName="TaxCatchAll" ma:showField="CatchAllData" ma:web="915351b3-9d83-48b3-ac22-e3c9aaa21a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5351b3-9d83-48b3-ac22-e3c9aaa21acc" xsi:nil="true"/>
    <lcf76f155ced4ddcb4097134ff3c332f xmlns="90bfa618-64d6-4f98-860f-1bba87795c0a">
      <Terms xmlns="http://schemas.microsoft.com/office/infopath/2007/PartnerControls"/>
    </lcf76f155ced4ddcb4097134ff3c332f>
    <Thumbnail xmlns="90bfa618-64d6-4f98-860f-1bba87795c0a" xsi:nil="true"/>
    <PLEASEDOWNLOADANDSAVEBEFOREUSE xmlns="90bfa618-64d6-4f98-860f-1bba87795c0a" xsi:nil="true"/>
    <Dateandtime xmlns="90bfa618-64d6-4f98-860f-1bba87795c0a" xsi:nil="true"/>
  </documentManagement>
</p:properties>
</file>

<file path=customXml/itemProps1.xml><?xml version="1.0" encoding="utf-8"?>
<ds:datastoreItem xmlns:ds="http://schemas.openxmlformats.org/officeDocument/2006/customXml" ds:itemID="{858E24E1-0D68-48DA-A645-987BD3EB4D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867A1C-3DDC-4CEC-8406-B1C9CE7DFD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bfa618-64d6-4f98-860f-1bba87795c0a"/>
    <ds:schemaRef ds:uri="915351b3-9d83-48b3-ac22-e3c9aaa21a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256CB6-7CC2-4951-B6D4-D49A5657139B}">
  <ds:schemaRefs>
    <ds:schemaRef ds:uri="http://schemas.microsoft.com/office/2006/metadata/properties"/>
    <ds:schemaRef ds:uri="http://schemas.microsoft.com/office/infopath/2007/PartnerControls"/>
    <ds:schemaRef ds:uri="915351b3-9d83-48b3-ac22-e3c9aaa21acc"/>
    <ds:schemaRef ds:uri="90bfa618-64d6-4f98-860f-1bba87795c0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545</Words>
  <Application>Microsoft Office PowerPoint</Application>
  <PresentationFormat>Custom</PresentationFormat>
  <Paragraphs>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Arial</vt:lpstr>
      <vt:lpstr>Montserrat</vt:lpstr>
      <vt:lpstr>Oswald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ppt - Option 1</dc:title>
  <dc:creator>Hayat</dc:creator>
  <cp:lastModifiedBy>Emily Larson</cp:lastModifiedBy>
  <cp:revision>25</cp:revision>
  <dcterms:created xsi:type="dcterms:W3CDTF">2006-08-16T00:00:00Z</dcterms:created>
  <dcterms:modified xsi:type="dcterms:W3CDTF">2025-12-03T03:36:58Z</dcterms:modified>
  <dc:identifier>DAF3iLWRa4M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0x010100F28C71AAF82D974DA0302843D413C0DC</vt:lpwstr>
  </property>
  <property fmtid="{D5CDD505-2E9C-101B-9397-08002B2CF9AE}" pid="3" name="MediaServiceImageTags">
    <vt:lpwstr/>
  </property>
</Properties>
</file>